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AB4-4775-8699-0DF8ED7486D4}"/>
              </c:ext>
            </c:extLst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B4-4775-8699-0DF8ED7486D4}"/>
              </c:ext>
            </c:extLst>
          </c:dPt>
          <c:cat>
            <c:strRef>
              <c:f>Sheet1!$A$2:$A$3</c:f>
              <c:strCache>
                <c:ptCount val="2"/>
                <c:pt idx="0">
                  <c:v>Correct</c:v>
                </c:pt>
                <c:pt idx="1">
                  <c:v>Incorrect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AB4-4775-8699-0DF8ED7486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9F4D9-62B6-4561-AB47-53508C5E1E8A}" type="datetimeFigureOut">
              <a:rPr lang="fr-BE" smtClean="0"/>
              <a:t>14-12-25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D1947-1C5B-4F7B-8FCB-29AAE0D2DB2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80938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D1947-1C5B-4F7B-8FCB-29AAE0D2DB26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06244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D1947-1C5B-4F7B-8FCB-29AAE0D2DB26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98394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5A602E-22AB-EFDA-E8EA-04518D2A0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A8CF5A0-C706-1C8F-50C5-E0FF41FB6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BDCD54-1414-B547-612A-130986C3F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F0A5-779B-4334-AA51-B2BD2F61AB03}" type="datetimeFigureOut">
              <a:rPr lang="fr-BE" smtClean="0"/>
              <a:t>14-12-25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D70584-8F26-3449-73EC-D50C6E7E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3BD5A2-C55D-CFA6-53C5-5C2BF69B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9B16F-4E7E-443F-9261-D215CCC3126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48780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8B528-368F-6801-F798-9CC9B1854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F6F613-52C0-E193-4735-B46EE6E55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572A66-8D81-E639-4435-34396F04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F0A5-779B-4334-AA51-B2BD2F61AB03}" type="datetimeFigureOut">
              <a:rPr lang="fr-BE" smtClean="0"/>
              <a:t>14-12-25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63913F-E3A6-E9AF-8DE6-188D5665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B78847-7CF0-BA55-C0E2-AABC20EB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9B16F-4E7E-443F-9261-D215CCC3126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2320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647B6A-F8F7-A99F-3442-34E63C850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ABDFE2-E15F-0767-59D1-FBF768277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200D26-5677-4A4D-FA2C-7A0B878E9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F0A5-779B-4334-AA51-B2BD2F61AB03}" type="datetimeFigureOut">
              <a:rPr lang="fr-BE" smtClean="0"/>
              <a:t>14-12-25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6E83E0-7663-0838-2AE2-9AD120FA2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432D69-7892-F7E1-953E-928D65E7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9B16F-4E7E-443F-9261-D215CCC3126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06436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7101D5-45FA-AD73-812E-3F658874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A97564-DA85-DA2F-20CE-5EAE9BF835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B588D0-156D-7C1C-B501-42E04A8A8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CCF72C-D04E-453E-2EF4-839A03E6F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F0A5-779B-4334-AA51-B2BD2F61AB03}" type="datetimeFigureOut">
              <a:rPr lang="fr-BE" smtClean="0"/>
              <a:t>14-12-25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F7E137B-2D0C-1BF9-3573-17ACB30D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1F7F01-EA55-B17A-8CF8-A55AE92BA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9B16F-4E7E-443F-9261-D215CCC3126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78109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B27EC9-2430-56D1-38E3-992E7DDB1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8DEC8D-790D-41C9-DB2B-231F13C1D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C3AA9E-08D9-90F2-D3C6-05B1E52D7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A47DAF6-E218-878C-3BC0-3FCC4F3CD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E701B42-2E19-3DEC-35B6-7BF267EE8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70E806E-3E89-A8CE-964A-1809E99A4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F0A5-779B-4334-AA51-B2BD2F61AB03}" type="datetimeFigureOut">
              <a:rPr lang="fr-BE" smtClean="0"/>
              <a:t>14-12-25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C1CD24B-0C97-69C0-757E-1F9132A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9D98E19-7523-2506-1801-91C9802E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9B16F-4E7E-443F-9261-D215CCC3126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44887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99D988-8831-7FC4-1C35-46667DD2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41E962C-1AB9-4A2F-1047-6B786C3E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F0A5-779B-4334-AA51-B2BD2F61AB03}" type="datetimeFigureOut">
              <a:rPr lang="fr-BE" smtClean="0"/>
              <a:t>14-12-25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79CA2C-860F-5603-37C1-4CEFAFD2C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0DBE278-4189-4526-8AB4-B64F7853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9B16F-4E7E-443F-9261-D215CCC3126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99654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3EF5247-1248-A054-A950-0EF6022D1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F0A5-779B-4334-AA51-B2BD2F61AB03}" type="datetimeFigureOut">
              <a:rPr lang="fr-BE" smtClean="0"/>
              <a:t>14-12-25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73547A-39ED-59FB-BAD2-05DD35E29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525A19-5749-FA3D-29DF-FD5C2248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9B16F-4E7E-443F-9261-D215CCC3126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50683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83FCBD-44A4-3F1D-C2D5-3B10DAFAB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AFE259-0B08-D1FD-F252-933640DB8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FCA278F-D004-09A7-5829-839A2B0B1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B2E722-B6DE-99A5-E479-AFC62F406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F0A5-779B-4334-AA51-B2BD2F61AB03}" type="datetimeFigureOut">
              <a:rPr lang="fr-BE" smtClean="0"/>
              <a:t>14-12-25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08B1F3-E50B-221A-A27D-2C74A902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E66547-2356-9417-C74B-D8D8A44E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9B16F-4E7E-443F-9261-D215CCC3126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75590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338888-D67C-B5CA-7999-7710D86E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EB31523-720A-E7CE-FED1-1619A1D1B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9F23571-12BF-AF5B-A665-4C9831B8A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7E01221-2414-A063-9EB9-9AE07AC11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F0A5-779B-4334-AA51-B2BD2F61AB03}" type="datetimeFigureOut">
              <a:rPr lang="fr-BE" smtClean="0"/>
              <a:t>14-12-25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B836C1-672D-7B55-3182-DBC5BF02D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0EEB2A-3FDF-CE99-CFF2-D9131825B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9B16F-4E7E-443F-9261-D215CCC3126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29480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905D72-6880-6200-9251-CAE1FF89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C7559C0-1B42-87DB-59EA-438365CB6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37484A-F065-2D19-D815-59A831D01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F0A5-779B-4334-AA51-B2BD2F61AB03}" type="datetimeFigureOut">
              <a:rPr lang="fr-BE" smtClean="0"/>
              <a:t>14-12-25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FB40DC-0B1A-D0F3-D804-B3784AE7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39C640-2407-4E40-9157-4F75066AA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9B16F-4E7E-443F-9261-D215CCC3126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895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1104FAF-9C1F-5A9B-E8FF-0C46692531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0081399-7DC9-2ED5-BBB7-3F7B6AC91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80A1BB-C732-5A44-B091-7981396E2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F0A5-779B-4334-AA51-B2BD2F61AB03}" type="datetimeFigureOut">
              <a:rPr lang="fr-BE" smtClean="0"/>
              <a:t>14-12-25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F6A78A-217C-6D83-9D31-6BB30105B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123341-4BDD-2A76-E241-035848D02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9B16F-4E7E-443F-9261-D215CCC3126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0845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1078303-CD8B-CEC9-053A-AC9B92A7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68B050-502A-3BE0-D311-1D5914057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921E5F-0156-3F8C-FE7B-BE207D27F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DEF0A5-779B-4334-AA51-B2BD2F61AB03}" type="datetimeFigureOut">
              <a:rPr lang="fr-BE" smtClean="0"/>
              <a:t>14-12-25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406497-2C78-CAB2-B00C-4D6B89C36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3CA8C8-97E7-05D3-248E-978469EA0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9B16F-4E7E-443F-9261-D215CCC3126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11683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/mnt/data/bmp_assets/bird_header_dark.png">
            <a:extLst>
              <a:ext uri="{FF2B5EF4-FFF2-40B4-BE49-F238E27FC236}">
                <a16:creationId xmlns:a16="http://schemas.microsoft.com/office/drawing/2014/main" id="{EA3873E0-4B4B-3951-50D4-964A43F56B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112" r="29112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A29F086B-A190-E34E-6292-424029A7F163}"/>
              </a:ext>
            </a:extLst>
          </p:cNvPr>
          <p:cNvSpPr/>
          <p:nvPr/>
        </p:nvSpPr>
        <p:spPr>
          <a:xfrm>
            <a:off x="731520" y="21488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Monitoring Project</a:t>
            </a:r>
            <a:endParaRPr lang="en-US" sz="44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7981298D-0B49-C0C1-1640-46A848BC5DB5}"/>
              </a:ext>
            </a:extLst>
          </p:cNvPr>
          <p:cNvSpPr/>
          <p:nvPr/>
        </p:nvSpPr>
        <p:spPr>
          <a:xfrm>
            <a:off x="777240" y="2971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automatique de chants d'oiseaux — filtrage FIR, STFT, segmentation et classification</a:t>
            </a:r>
            <a:endParaRPr lang="en-US" sz="180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626921FD-1032-D323-B10B-CC6902D32424}"/>
              </a:ext>
            </a:extLst>
          </p:cNvPr>
          <p:cNvSpPr/>
          <p:nvPr/>
        </p:nvSpPr>
        <p:spPr>
          <a:xfrm>
            <a:off x="868680" y="3712464"/>
            <a:ext cx="539496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A99F0609-0802-65B2-43DE-0C2407CC4D17}"/>
              </a:ext>
            </a:extLst>
          </p:cNvPr>
          <p:cNvSpPr/>
          <p:nvPr/>
        </p:nvSpPr>
        <p:spPr>
          <a:xfrm>
            <a:off x="7772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de Radigues • Arthur Dufour • Ange Simpalingabo</a:t>
            </a:r>
            <a:endParaRPr lang="en-US" sz="14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84E8F8C2-66D1-7BFD-EAA8-2121C0154A6F}"/>
              </a:ext>
            </a:extLst>
          </p:cNvPr>
          <p:cNvSpPr/>
          <p:nvPr/>
        </p:nvSpPr>
        <p:spPr>
          <a:xfrm>
            <a:off x="777240" y="4206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ECAM — 5MEO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83772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3813F3F-653A-4980-E35E-1D6914325B38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1A"/>
          </a:solidFill>
          <a:ln w="12700">
            <a:solidFill>
              <a:srgbClr val="0B1F1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74AAEBD-E462-8D45-4489-2A4D6BD00E82}"/>
              </a:ext>
            </a:extLst>
          </p:cNvPr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8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E705D2C-9165-1834-8F74-09061671E403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F9A694D-8392-57AE-121E-E1CAC6F03D26}"/>
              </a:ext>
            </a:extLst>
          </p:cNvPr>
          <p:cNvSpPr/>
          <p:nvPr/>
        </p:nvSpPr>
        <p:spPr>
          <a:xfrm>
            <a:off x="5486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Monitoring Project</a:t>
            </a:r>
            <a:endParaRPr lang="en-US" sz="10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465DEE3-1495-7C5A-12D0-560D84543504}"/>
              </a:ext>
            </a:extLst>
          </p:cNvPr>
          <p:cNvSpPr/>
          <p:nvPr/>
        </p:nvSpPr>
        <p:spPr>
          <a:xfrm>
            <a:off x="8412480" y="66019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ECAM — 5MEO</a:t>
            </a:r>
            <a:endParaRPr lang="en-US" sz="10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C7B6D30-FE2F-4A30-93BA-E05D60D31EBE}"/>
              </a:ext>
            </a:extLst>
          </p:cNvPr>
          <p:cNvSpPr/>
          <p:nvPr/>
        </p:nvSpPr>
        <p:spPr>
          <a:xfrm>
            <a:off x="54864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construire un pipeline reproductible pour analyser des .wav de chants d'oiseaux et prédire l'espèce dominante.</a:t>
            </a:r>
            <a:endParaRPr lang="en-US" sz="14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F520320F-7A03-DF61-8B85-FD0745F16066}"/>
              </a:ext>
            </a:extLst>
          </p:cNvPr>
          <p:cNvSpPr/>
          <p:nvPr/>
        </p:nvSpPr>
        <p:spPr>
          <a:xfrm>
            <a:off x="548640" y="1234440"/>
            <a:ext cx="5806440" cy="5074920"/>
          </a:xfrm>
          <a:prstGeom prst="roundRect">
            <a:avLst>
              <a:gd name="adj" fmla="val 1009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CAED362-5889-F979-7B53-ED7A75990071}"/>
              </a:ext>
            </a:extLst>
          </p:cNvPr>
          <p:cNvSpPr/>
          <p:nvPr/>
        </p:nvSpPr>
        <p:spPr>
          <a:xfrm>
            <a:off x="82296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fait le pipeline</a:t>
            </a:r>
            <a:endParaRPr lang="en-US" sz="18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E41C057-2414-4903-75CA-FD30645A3B10}"/>
              </a:ext>
            </a:extLst>
          </p:cNvPr>
          <p:cNvSpPr/>
          <p:nvPr/>
        </p:nvSpPr>
        <p:spPr>
          <a:xfrm>
            <a:off x="868680" y="1828800"/>
            <a:ext cx="5394960" cy="1621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automatique des enregistrements (.wav)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FIR passe‑bande (400 Hz – 8 kHz)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Spectrogrammes STFT et sauvegarde des figures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d'activité (VAD) par flux spectral → segments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 features par segment (MFCC, stats spectrales, F0)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par segments (Random Forest) + prédiction</a:t>
            </a:r>
            <a:endParaRPr lang="en-US" sz="16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932D78EB-0200-5A62-E6E7-D9B6DA9DA1E1}"/>
              </a:ext>
            </a:extLst>
          </p:cNvPr>
          <p:cNvSpPr/>
          <p:nvPr/>
        </p:nvSpPr>
        <p:spPr>
          <a:xfrm>
            <a:off x="6629400" y="1234440"/>
            <a:ext cx="5010912" cy="5074920"/>
          </a:xfrm>
          <a:prstGeom prst="roundRect">
            <a:avLst>
              <a:gd name="adj" fmla="val 11155"/>
            </a:avLst>
          </a:prstGeom>
          <a:solidFill>
            <a:srgbClr val="E6F4EF"/>
          </a:solidFill>
          <a:ln w="12700">
            <a:solidFill>
              <a:srgbClr val="CBE7D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  <a:softEdge rad="0"/>
          </a:effectLst>
        </p:spPr>
        <p:txBody>
          <a:bodyPr/>
          <a:lstStyle/>
          <a:p>
            <a:endParaRPr lang="fr-BE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25C259C-D27C-E58B-DE8D-B0E9A8504F91}"/>
              </a:ext>
            </a:extLst>
          </p:cNvPr>
          <p:cNvSpPr/>
          <p:nvPr/>
        </p:nvSpPr>
        <p:spPr>
          <a:xfrm>
            <a:off x="6949440" y="1417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18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D2223ED-B7C8-9F32-0EEE-DCC15F72D4F4}"/>
              </a:ext>
            </a:extLst>
          </p:cNvPr>
          <p:cNvSpPr/>
          <p:nvPr/>
        </p:nvSpPr>
        <p:spPr>
          <a:xfrm>
            <a:off x="6949440" y="1828800"/>
            <a:ext cx="4526280" cy="138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segments.csv (onset/offset)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features.csv (features agrégées)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: spectrogrammes &amp; segments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rf_segments.joblib (modèle entraîné)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“prêts à lancer”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15225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674C67F6-5919-A3D4-AE4E-735D855CFC1F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1A"/>
          </a:solidFill>
          <a:ln w="12700">
            <a:solidFill>
              <a:srgbClr val="0B1F1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DBCA738-45DB-0B8A-6675-C759D6BB0D8D}"/>
              </a:ext>
            </a:extLst>
          </p:cNvPr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global</a:t>
            </a:r>
            <a:endParaRPr lang="en-US" sz="18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1A842B2-6F24-F26A-7545-5B6CE83E26FB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51259A7-E002-9DAD-4BAD-354B43D48CA8}"/>
              </a:ext>
            </a:extLst>
          </p:cNvPr>
          <p:cNvSpPr/>
          <p:nvPr/>
        </p:nvSpPr>
        <p:spPr>
          <a:xfrm>
            <a:off x="5486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Monitoring Project</a:t>
            </a:r>
            <a:endParaRPr lang="en-US" sz="10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5FCD592-7F38-961C-AA23-218E29A540FD}"/>
              </a:ext>
            </a:extLst>
          </p:cNvPr>
          <p:cNvSpPr/>
          <p:nvPr/>
        </p:nvSpPr>
        <p:spPr>
          <a:xfrm>
            <a:off x="8412480" y="66019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ECAM — 5MEO</a:t>
            </a:r>
            <a:endParaRPr lang="en-US" sz="10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5400459-53EA-A215-7377-E2B8A98E06A0}"/>
              </a:ext>
            </a:extLst>
          </p:cNvPr>
          <p:cNvSpPr/>
          <p:nvPr/>
        </p:nvSpPr>
        <p:spPr>
          <a:xfrm>
            <a:off x="548640" y="123444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53A7C8C-B7DA-9AAE-8716-14F7E14139A0}"/>
              </a:ext>
            </a:extLst>
          </p:cNvPr>
          <p:cNvSpPr/>
          <p:nvPr/>
        </p:nvSpPr>
        <p:spPr>
          <a:xfrm>
            <a:off x="685800" y="1344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WAV brut</a:t>
            </a:r>
            <a:endParaRPr lang="en-US" sz="14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C14D809-78CE-3C56-4FC5-7975957001E5}"/>
              </a:ext>
            </a:extLst>
          </p:cNvPr>
          <p:cNvSpPr/>
          <p:nvPr/>
        </p:nvSpPr>
        <p:spPr>
          <a:xfrm>
            <a:off x="685800" y="16459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data/raw</a:t>
            </a:r>
            <a:endParaRPr lang="en-US" sz="11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E7F5588-63B8-4F7A-D6C2-A28BADD4D82F}"/>
              </a:ext>
            </a:extLst>
          </p:cNvPr>
          <p:cNvSpPr/>
          <p:nvPr/>
        </p:nvSpPr>
        <p:spPr>
          <a:xfrm>
            <a:off x="2880360" y="123444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B3614D8-F85C-3D2C-4CF8-A9B126216E5A}"/>
              </a:ext>
            </a:extLst>
          </p:cNvPr>
          <p:cNvSpPr/>
          <p:nvPr/>
        </p:nvSpPr>
        <p:spPr>
          <a:xfrm>
            <a:off x="3017520" y="1344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FIR band‑pass</a:t>
            </a:r>
            <a:endParaRPr lang="en-US" sz="14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53A5BDA-287A-35B1-1115-6F9C4396B253}"/>
              </a:ext>
            </a:extLst>
          </p:cNvPr>
          <p:cNvSpPr/>
          <p:nvPr/>
        </p:nvSpPr>
        <p:spPr>
          <a:xfrm>
            <a:off x="3017520" y="16459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Hz – 8 kHz</a:t>
            </a:r>
            <a:endParaRPr lang="en-US" sz="11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BA47311E-8EBB-DE19-D725-5483EF84FF16}"/>
              </a:ext>
            </a:extLst>
          </p:cNvPr>
          <p:cNvSpPr/>
          <p:nvPr/>
        </p:nvSpPr>
        <p:spPr>
          <a:xfrm>
            <a:off x="5212080" y="123444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9D37BFF4-8A28-C438-2478-255F2F0BDB76}"/>
              </a:ext>
            </a:extLst>
          </p:cNvPr>
          <p:cNvSpPr/>
          <p:nvPr/>
        </p:nvSpPr>
        <p:spPr>
          <a:xfrm>
            <a:off x="5349240" y="1344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STFT</a:t>
            </a:r>
            <a:endParaRPr lang="en-US" sz="14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DFA6626-8C09-574E-BDD0-95911A9E5386}"/>
              </a:ext>
            </a:extLst>
          </p:cNvPr>
          <p:cNvSpPr/>
          <p:nvPr/>
        </p:nvSpPr>
        <p:spPr>
          <a:xfrm>
            <a:off x="5349240" y="16459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spectrogrammes (.png)</a:t>
            </a:r>
            <a:endParaRPr lang="en-US" sz="11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97717283-FAEC-C517-04AB-350C0A3C69A7}"/>
              </a:ext>
            </a:extLst>
          </p:cNvPr>
          <p:cNvSpPr/>
          <p:nvPr/>
        </p:nvSpPr>
        <p:spPr>
          <a:xfrm>
            <a:off x="7543800" y="123444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8E8DC78-4D5F-9D66-C0C2-1932F94344F4}"/>
              </a:ext>
            </a:extLst>
          </p:cNvPr>
          <p:cNvSpPr/>
          <p:nvPr/>
        </p:nvSpPr>
        <p:spPr>
          <a:xfrm>
            <a:off x="7680960" y="1344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VAD</a:t>
            </a:r>
            <a:endParaRPr lang="en-US" sz="14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80B932EF-A4C0-A9D4-5026-7AEAB28289B6}"/>
              </a:ext>
            </a:extLst>
          </p:cNvPr>
          <p:cNvSpPr/>
          <p:nvPr/>
        </p:nvSpPr>
        <p:spPr>
          <a:xfrm>
            <a:off x="7680960" y="16459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spectral → segments</a:t>
            </a:r>
            <a:endParaRPr lang="en-US" sz="110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90312846-0B56-C262-2E89-5A3DEF71898C}"/>
              </a:ext>
            </a:extLst>
          </p:cNvPr>
          <p:cNvSpPr/>
          <p:nvPr/>
        </p:nvSpPr>
        <p:spPr>
          <a:xfrm>
            <a:off x="9875520" y="123444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1876B053-82A9-F466-DBCA-E83747EC38E0}"/>
              </a:ext>
            </a:extLst>
          </p:cNvPr>
          <p:cNvSpPr/>
          <p:nvPr/>
        </p:nvSpPr>
        <p:spPr>
          <a:xfrm>
            <a:off x="10012680" y="1344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Features</a:t>
            </a:r>
            <a:endParaRPr lang="en-US" sz="14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429A5EBC-FCB6-8280-34DE-90C3C5F6A2C9}"/>
              </a:ext>
            </a:extLst>
          </p:cNvPr>
          <p:cNvSpPr/>
          <p:nvPr/>
        </p:nvSpPr>
        <p:spPr>
          <a:xfrm>
            <a:off x="10012680" y="16459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+ spectre + F0</a:t>
            </a:r>
            <a:endParaRPr lang="en-US" sz="110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EDE48611-DCDB-2D27-30FF-B5BC07418C21}"/>
              </a:ext>
            </a:extLst>
          </p:cNvPr>
          <p:cNvSpPr/>
          <p:nvPr/>
        </p:nvSpPr>
        <p:spPr>
          <a:xfrm>
            <a:off x="2560320" y="1435608"/>
            <a:ext cx="320040" cy="365760"/>
          </a:xfrm>
          <a:prstGeom prst="rightArrow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C4C34062-E8EC-C7F4-524B-EE18D84C00AF}"/>
              </a:ext>
            </a:extLst>
          </p:cNvPr>
          <p:cNvSpPr/>
          <p:nvPr/>
        </p:nvSpPr>
        <p:spPr>
          <a:xfrm>
            <a:off x="4892040" y="1435608"/>
            <a:ext cx="320040" cy="365760"/>
          </a:xfrm>
          <a:prstGeom prst="rightArrow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1BF3AD51-145F-EC99-32E7-056485387928}"/>
              </a:ext>
            </a:extLst>
          </p:cNvPr>
          <p:cNvSpPr/>
          <p:nvPr/>
        </p:nvSpPr>
        <p:spPr>
          <a:xfrm>
            <a:off x="7223760" y="1435608"/>
            <a:ext cx="320040" cy="365760"/>
          </a:xfrm>
          <a:prstGeom prst="rightArrow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FDB580DF-BFDC-7B5B-43BC-E9AAF0520774}"/>
              </a:ext>
            </a:extLst>
          </p:cNvPr>
          <p:cNvSpPr/>
          <p:nvPr/>
        </p:nvSpPr>
        <p:spPr>
          <a:xfrm>
            <a:off x="9555480" y="1435608"/>
            <a:ext cx="320040" cy="365760"/>
          </a:xfrm>
          <a:prstGeom prst="rightArrow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D256C3C5-B8E4-911D-8ABF-325A2E0C6AF0}"/>
              </a:ext>
            </a:extLst>
          </p:cNvPr>
          <p:cNvSpPr/>
          <p:nvPr/>
        </p:nvSpPr>
        <p:spPr>
          <a:xfrm>
            <a:off x="9875520" y="2642616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2C312635-50FF-261D-BBF2-A2D494849EC4}"/>
              </a:ext>
            </a:extLst>
          </p:cNvPr>
          <p:cNvSpPr/>
          <p:nvPr/>
        </p:nvSpPr>
        <p:spPr>
          <a:xfrm>
            <a:off x="9875520" y="27706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Apprentissage</a:t>
            </a:r>
            <a:endParaRPr lang="en-US" sz="14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980D7F6-459A-23E5-9307-5F1565223D40}"/>
              </a:ext>
            </a:extLst>
          </p:cNvPr>
          <p:cNvSpPr/>
          <p:nvPr/>
        </p:nvSpPr>
        <p:spPr>
          <a:xfrm>
            <a:off x="987552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7CAECE2A-DEF7-0375-3B4F-5681E6673688}"/>
              </a:ext>
            </a:extLst>
          </p:cNvPr>
          <p:cNvSpPr/>
          <p:nvPr/>
        </p:nvSpPr>
        <p:spPr>
          <a:xfrm>
            <a:off x="7543800" y="2651760"/>
            <a:ext cx="2011680" cy="777240"/>
          </a:xfrm>
          <a:prstGeom prst="roundRect">
            <a:avLst/>
          </a:prstGeom>
          <a:solidFill>
            <a:srgbClr val="E6F4EF"/>
          </a:solidFill>
          <a:ln w="12700">
            <a:solidFill>
              <a:srgbClr val="CBE7DD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1E936DA6-71D3-85C1-31B8-F0FCAF2EAF11}"/>
              </a:ext>
            </a:extLst>
          </p:cNvPr>
          <p:cNvSpPr/>
          <p:nvPr/>
        </p:nvSpPr>
        <p:spPr>
          <a:xfrm>
            <a:off x="7543800" y="27797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Modèle</a:t>
            </a:r>
            <a:endParaRPr lang="en-US" sz="140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46664471-4285-534B-905B-C94D87E34965}"/>
              </a:ext>
            </a:extLst>
          </p:cNvPr>
          <p:cNvSpPr/>
          <p:nvPr/>
        </p:nvSpPr>
        <p:spPr>
          <a:xfrm>
            <a:off x="7543800" y="3072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rf_segments.joblib</a:t>
            </a:r>
            <a:endParaRPr lang="en-US" sz="1100" dirty="0"/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FA31019D-4943-3B4A-CFFA-939F28AC467C}"/>
              </a:ext>
            </a:extLst>
          </p:cNvPr>
          <p:cNvSpPr/>
          <p:nvPr/>
        </p:nvSpPr>
        <p:spPr>
          <a:xfrm>
            <a:off x="5217795" y="265176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710E7F8B-B38D-168B-1A75-1482177B397B}"/>
              </a:ext>
            </a:extLst>
          </p:cNvPr>
          <p:cNvSpPr/>
          <p:nvPr/>
        </p:nvSpPr>
        <p:spPr>
          <a:xfrm>
            <a:off x="5217795" y="27797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Prédiction</a:t>
            </a:r>
            <a:endParaRPr lang="en-US" sz="140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B288DC9F-F299-3BC6-6DA1-D70B3B264C12}"/>
              </a:ext>
            </a:extLst>
          </p:cNvPr>
          <p:cNvSpPr/>
          <p:nvPr/>
        </p:nvSpPr>
        <p:spPr>
          <a:xfrm>
            <a:off x="5354955" y="30723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→ espèce + confiance</a:t>
            </a:r>
            <a:endParaRPr lang="en-US" sz="1100" dirty="0"/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AE122F84-E1DB-AF0E-35FB-E1268ABFAA23}"/>
              </a:ext>
            </a:extLst>
          </p:cNvPr>
          <p:cNvSpPr/>
          <p:nvPr/>
        </p:nvSpPr>
        <p:spPr>
          <a:xfrm>
            <a:off x="2880360" y="2660904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97B06772-D513-75B0-6CA0-8A570BEF3B9C}"/>
              </a:ext>
            </a:extLst>
          </p:cNvPr>
          <p:cNvSpPr/>
          <p:nvPr/>
        </p:nvSpPr>
        <p:spPr>
          <a:xfrm>
            <a:off x="2880360" y="27889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Sorties</a:t>
            </a:r>
            <a:endParaRPr lang="en-US" sz="1400" dirty="0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41DDEA06-1D7C-426A-C411-DF1AAC389D10}"/>
              </a:ext>
            </a:extLst>
          </p:cNvPr>
          <p:cNvSpPr/>
          <p:nvPr/>
        </p:nvSpPr>
        <p:spPr>
          <a:xfrm>
            <a:off x="2880360" y="3081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figures</a:t>
            </a:r>
            <a:endParaRPr lang="en-US" sz="1100" dirty="0"/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38DA59B9-BFFD-A4C8-31D7-BA67BEFADD37}"/>
              </a:ext>
            </a:extLst>
          </p:cNvPr>
          <p:cNvSpPr/>
          <p:nvPr/>
        </p:nvSpPr>
        <p:spPr>
          <a:xfrm rot="5400000">
            <a:off x="10620756" y="2131695"/>
            <a:ext cx="521208" cy="400050"/>
          </a:xfrm>
          <a:prstGeom prst="rightArrow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42" name="Shape 38">
            <a:extLst>
              <a:ext uri="{FF2B5EF4-FFF2-40B4-BE49-F238E27FC236}">
                <a16:creationId xmlns:a16="http://schemas.microsoft.com/office/drawing/2014/main" id="{CAA1C155-407C-170D-A90B-156C479FEDAD}"/>
              </a:ext>
            </a:extLst>
          </p:cNvPr>
          <p:cNvSpPr/>
          <p:nvPr/>
        </p:nvSpPr>
        <p:spPr>
          <a:xfrm rot="10800000">
            <a:off x="9555480" y="2880360"/>
            <a:ext cx="320040" cy="347472"/>
          </a:xfrm>
          <a:prstGeom prst="rightArrow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83807D0C-D3D7-7685-E74D-6B01051F0903}"/>
              </a:ext>
            </a:extLst>
          </p:cNvPr>
          <p:cNvSpPr/>
          <p:nvPr/>
        </p:nvSpPr>
        <p:spPr>
          <a:xfrm>
            <a:off x="548640" y="4078224"/>
            <a:ext cx="11201400" cy="223113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 dirty="0"/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504073A2-2F9B-B9DC-5DD5-E4A4947A0B3B}"/>
              </a:ext>
            </a:extLst>
          </p:cNvPr>
          <p:cNvSpPr/>
          <p:nvPr/>
        </p:nvSpPr>
        <p:spPr>
          <a:xfrm>
            <a:off x="822960" y="4222623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Principaux </a:t>
            </a:r>
            <a:r>
              <a:rPr lang="en-US" sz="1400" b="1" dirty="0" err="1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400" dirty="0"/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86FACBA1-DD06-DDE8-4F20-43E3B84B36F9}"/>
              </a:ext>
            </a:extLst>
          </p:cNvPr>
          <p:cNvSpPr/>
          <p:nvPr/>
        </p:nvSpPr>
        <p:spPr>
          <a:xfrm>
            <a:off x="82296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6" name="Shape 38">
            <a:extLst>
              <a:ext uri="{FF2B5EF4-FFF2-40B4-BE49-F238E27FC236}">
                <a16:creationId xmlns:a16="http://schemas.microsoft.com/office/drawing/2014/main" id="{B3F7D459-8883-2883-7FC9-E9EE161D2C63}"/>
              </a:ext>
            </a:extLst>
          </p:cNvPr>
          <p:cNvSpPr/>
          <p:nvPr/>
        </p:nvSpPr>
        <p:spPr>
          <a:xfrm rot="10800000">
            <a:off x="7223760" y="2871216"/>
            <a:ext cx="320040" cy="347472"/>
          </a:xfrm>
          <a:prstGeom prst="rightArrow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BC5742EB-5C16-3CD6-3599-31FB1C627D2F}"/>
              </a:ext>
            </a:extLst>
          </p:cNvPr>
          <p:cNvSpPr/>
          <p:nvPr/>
        </p:nvSpPr>
        <p:spPr>
          <a:xfrm rot="10800000">
            <a:off x="4903470" y="2880360"/>
            <a:ext cx="320040" cy="347472"/>
          </a:xfrm>
          <a:prstGeom prst="rightArrow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C566F1E7-9A44-A249-AECE-7F055917736C}"/>
              </a:ext>
            </a:extLst>
          </p:cNvPr>
          <p:cNvSpPr/>
          <p:nvPr/>
        </p:nvSpPr>
        <p:spPr>
          <a:xfrm>
            <a:off x="822960" y="4127372"/>
            <a:ext cx="11064240" cy="2468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400" dirty="0"/>
              <a:t>Audio </a:t>
            </a:r>
            <a:r>
              <a:rPr lang="en-US" sz="1400" dirty="0" err="1"/>
              <a:t>filtré</a:t>
            </a:r>
            <a:r>
              <a:rPr lang="en-US" sz="1400" dirty="0"/>
              <a:t> : </a:t>
            </a:r>
            <a:r>
              <a:rPr lang="en-US" sz="1400" dirty="0">
                <a:highlight>
                  <a:srgbClr val="C0C0C0"/>
                </a:highlight>
              </a:rPr>
              <a:t>data/processed/*_bandpass.wav</a:t>
            </a:r>
          </a:p>
          <a:p>
            <a:pPr>
              <a:lnSpc>
                <a:spcPct val="150000"/>
              </a:lnSpc>
            </a:pPr>
            <a:r>
              <a:rPr lang="en-US" sz="1400" dirty="0" err="1"/>
              <a:t>Spectrogrammes</a:t>
            </a:r>
            <a:r>
              <a:rPr lang="en-US" sz="1400" dirty="0"/>
              <a:t> : </a:t>
            </a:r>
            <a:r>
              <a:rPr lang="en-US" sz="1400" dirty="0">
                <a:highlight>
                  <a:srgbClr val="C0C0C0"/>
                </a:highlight>
              </a:rPr>
              <a:t>assets/figures/*_spectrogram.png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Segments : </a:t>
            </a:r>
            <a:r>
              <a:rPr lang="en-US" sz="1400" dirty="0">
                <a:highlight>
                  <a:srgbClr val="C0C0C0"/>
                </a:highlight>
              </a:rPr>
              <a:t>experiments/exp1/segments.csv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Features : </a:t>
            </a:r>
            <a:r>
              <a:rPr lang="en-US" sz="1400" dirty="0">
                <a:highlight>
                  <a:srgbClr val="C0C0C0"/>
                </a:highlight>
              </a:rPr>
              <a:t>experiments/exp1/features.csv</a:t>
            </a:r>
          </a:p>
          <a:p>
            <a:pPr>
              <a:lnSpc>
                <a:spcPct val="150000"/>
              </a:lnSpc>
            </a:pPr>
            <a:r>
              <a:rPr lang="en-US" sz="1400" dirty="0" err="1"/>
              <a:t>Modèle</a:t>
            </a:r>
            <a:r>
              <a:rPr lang="en-US" sz="1400" dirty="0"/>
              <a:t> + </a:t>
            </a:r>
            <a:r>
              <a:rPr lang="en-US" sz="1400" dirty="0" err="1"/>
              <a:t>résultats</a:t>
            </a:r>
            <a:r>
              <a:rPr lang="en-US" sz="1400" dirty="0"/>
              <a:t> : </a:t>
            </a:r>
            <a:r>
              <a:rPr lang="en-US" sz="1400" dirty="0" err="1">
                <a:highlight>
                  <a:srgbClr val="C0C0C0"/>
                </a:highlight>
              </a:rPr>
              <a:t>rf_segments.joblib</a:t>
            </a:r>
            <a:r>
              <a:rPr lang="en-US" sz="1400" dirty="0">
                <a:highlight>
                  <a:srgbClr val="C0C0C0"/>
                </a:highlight>
              </a:rPr>
              <a:t> </a:t>
            </a:r>
            <a:r>
              <a:rPr lang="en-US" sz="1400" dirty="0"/>
              <a:t>+ </a:t>
            </a:r>
            <a:r>
              <a:rPr lang="en-US" sz="1400" dirty="0">
                <a:highlight>
                  <a:srgbClr val="C0C0C0"/>
                </a:highlight>
              </a:rPr>
              <a:t>predictions_segments.csv </a:t>
            </a:r>
            <a:r>
              <a:rPr lang="en-US" sz="1400" dirty="0"/>
              <a:t>+ </a:t>
            </a:r>
            <a:r>
              <a:rPr lang="en-US" sz="1400" dirty="0">
                <a:highlight>
                  <a:srgbClr val="C0C0C0"/>
                </a:highlight>
              </a:rPr>
              <a:t>confusion_matrix.png</a:t>
            </a:r>
          </a:p>
        </p:txBody>
      </p:sp>
    </p:spTree>
    <p:extLst>
      <p:ext uri="{BB962C8B-B14F-4D97-AF65-F5344CB8AC3E}">
        <p14:creationId xmlns:p14="http://schemas.microsoft.com/office/powerpoint/2010/main" val="503931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D613B0D0-21D1-A774-984B-83F177E67221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1A"/>
          </a:solidFill>
          <a:ln w="12700">
            <a:solidFill>
              <a:srgbClr val="0B1F1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5C242A3-BC93-1B58-0D13-F3C7AFA21EB9}"/>
              </a:ext>
            </a:extLst>
          </p:cNvPr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: filtrage FIR + STFT</a:t>
            </a:r>
            <a:endParaRPr lang="en-US" sz="18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B8B0CCA2-9D7B-AEF0-7601-23388D3C240A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C4895D4-D9C2-CB68-8D2E-1AAB7D9C89B1}"/>
              </a:ext>
            </a:extLst>
          </p:cNvPr>
          <p:cNvSpPr/>
          <p:nvPr/>
        </p:nvSpPr>
        <p:spPr>
          <a:xfrm>
            <a:off x="5486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Monitoring Project</a:t>
            </a:r>
            <a:endParaRPr lang="en-US" sz="10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94BEB40-79C3-452E-2F9D-FDD52145C761}"/>
              </a:ext>
            </a:extLst>
          </p:cNvPr>
          <p:cNvSpPr/>
          <p:nvPr/>
        </p:nvSpPr>
        <p:spPr>
          <a:xfrm>
            <a:off x="8412480" y="66019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ECAM — 5MEO</a:t>
            </a:r>
            <a:endParaRPr lang="en-US" sz="10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B1F34EC-68B6-0302-CDDF-7BC80834A901}"/>
              </a:ext>
            </a:extLst>
          </p:cNvPr>
          <p:cNvSpPr/>
          <p:nvPr/>
        </p:nvSpPr>
        <p:spPr>
          <a:xfrm>
            <a:off x="548640" y="822960"/>
            <a:ext cx="5806440" cy="562356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D75B5F9-F764-A257-3073-6D9B1FD8D5FA}"/>
              </a:ext>
            </a:extLst>
          </p:cNvPr>
          <p:cNvSpPr/>
          <p:nvPr/>
        </p:nvSpPr>
        <p:spPr>
          <a:xfrm>
            <a:off x="82296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filtrer ?</a:t>
            </a:r>
            <a:endParaRPr lang="en-US" sz="1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855E99E-3B57-88F6-68B0-D1DCD13C0B29}"/>
              </a:ext>
            </a:extLst>
          </p:cNvPr>
          <p:cNvSpPr/>
          <p:nvPr/>
        </p:nvSpPr>
        <p:spPr>
          <a:xfrm>
            <a:off x="868680" y="1417320"/>
            <a:ext cx="5394960" cy="902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basses fréquences (vent, trafic, manipulations)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la bande informative pour les chants (≈ kHz)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FIR + filtfilt : phase globale nulle (pas de décalage)</a:t>
            </a:r>
            <a:endParaRPr lang="en-US" sz="16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9EA3BD70-BDF3-D142-92C5-00B435466653}"/>
              </a:ext>
            </a:extLst>
          </p:cNvPr>
          <p:cNvSpPr/>
          <p:nvPr/>
        </p:nvSpPr>
        <p:spPr>
          <a:xfrm>
            <a:off x="822960" y="2834640"/>
            <a:ext cx="5440680" cy="260604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B1C2906-3600-F9A2-AA05-408128C3766F}"/>
              </a:ext>
            </a:extLst>
          </p:cNvPr>
          <p:cNvSpPr/>
          <p:nvPr/>
        </p:nvSpPr>
        <p:spPr>
          <a:xfrm>
            <a:off x="1005840" y="2971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(config.py)</a:t>
            </a:r>
            <a:endParaRPr lang="en-US" sz="14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4CB3702-AC82-4119-67C3-47A8EB16BB32}"/>
              </a:ext>
            </a:extLst>
          </p:cNvPr>
          <p:cNvSpPr/>
          <p:nvPr/>
        </p:nvSpPr>
        <p:spPr>
          <a:xfrm>
            <a:off x="1005840" y="3246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TARGET_SR = 22050 Hz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BANDPASS_LOW = 400 Hz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BANDPASS_HIGH = 8000 Hz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FIR_NUMTAPS = 1025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STFT_N_FFT = 1024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STFT_HOP_LENGTH = 256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STFT_WINDOW = hann</a:t>
            </a:r>
            <a:endParaRPr lang="en-US" sz="12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BFDE96A3-093B-F934-8FCE-08EFF7406139}"/>
              </a:ext>
            </a:extLst>
          </p:cNvPr>
          <p:cNvSpPr/>
          <p:nvPr/>
        </p:nvSpPr>
        <p:spPr>
          <a:xfrm>
            <a:off x="6629400" y="822960"/>
            <a:ext cx="5010912" cy="5623560"/>
          </a:xfrm>
          <a:prstGeom prst="roundRect">
            <a:avLst>
              <a:gd name="adj" fmla="val 7733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A635AC9-AE4C-9C41-388E-639F4917822C}"/>
              </a:ext>
            </a:extLst>
          </p:cNvPr>
          <p:cNvSpPr/>
          <p:nvPr/>
        </p:nvSpPr>
        <p:spPr>
          <a:xfrm>
            <a:off x="6903720" y="1005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: STFT + figure</a:t>
            </a:r>
            <a:endParaRPr lang="en-US" sz="18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A4D76F41-07BA-0855-B3BC-D5B4C52EEB3D}"/>
              </a:ext>
            </a:extLst>
          </p:cNvPr>
          <p:cNvSpPr/>
          <p:nvPr/>
        </p:nvSpPr>
        <p:spPr>
          <a:xfrm>
            <a:off x="6903720" y="1417320"/>
            <a:ext cx="4462272" cy="3749040"/>
          </a:xfrm>
          <a:prstGeom prst="roundRect">
            <a:avLst/>
          </a:prstGeom>
          <a:solidFill>
            <a:srgbClr val="0B1F1A"/>
          </a:solidFill>
          <a:ln w="12700">
            <a:solidFill>
              <a:srgbClr val="0B1F1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07CD4C6-4BB3-7F3C-7736-49B0CC2BA509}"/>
              </a:ext>
            </a:extLst>
          </p:cNvPr>
          <p:cNvSpPr/>
          <p:nvPr/>
        </p:nvSpPr>
        <p:spPr>
          <a:xfrm>
            <a:off x="7132320" y="1600200"/>
            <a:ext cx="398335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freqs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compute_spectrogram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y_filt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n_fft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hop_length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window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"hann"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save_spectrogram_figure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hop_length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out_path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fig_out_path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8192C3A4-F150-1137-D790-AD715990EBF8}"/>
              </a:ext>
            </a:extLst>
          </p:cNvPr>
          <p:cNvSpPr/>
          <p:nvPr/>
        </p:nvSpPr>
        <p:spPr>
          <a:xfrm>
            <a:off x="7086600" y="54864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: DFT sur fenêtres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représentation temps‑fréquence</a:t>
            </a:r>
            <a:endParaRPr lang="en-US" sz="130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5CAB8F8F-1856-8D4F-9EA7-87DDFCDE8B94}"/>
              </a:ext>
            </a:extLst>
          </p:cNvPr>
          <p:cNvSpPr/>
          <p:nvPr/>
        </p:nvSpPr>
        <p:spPr>
          <a:xfrm>
            <a:off x="6966585" y="5349239"/>
            <a:ext cx="4311015" cy="1011555"/>
          </a:xfrm>
          <a:prstGeom prst="roundRect">
            <a:avLst>
              <a:gd name="adj" fmla="val 28758"/>
            </a:avLst>
          </a:prstGeom>
          <a:solidFill>
            <a:schemeClr val="accent6">
              <a:lumMod val="75000"/>
              <a:alpha val="25000"/>
            </a:schemeClr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07006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3DABD2-D233-53DD-A155-EEE8A5293D4A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1A"/>
          </a:solidFill>
          <a:ln w="12700">
            <a:solidFill>
              <a:srgbClr val="0B1F1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CAF957-E791-90EE-B612-6DC38C069607}"/>
              </a:ext>
            </a:extLst>
          </p:cNvPr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d'activité : flux spectral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4309DBD-9CCA-7F85-C9C9-7AB7EF4A39FA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BD1818-2803-0AF4-D1A3-E7A956D0D206}"/>
              </a:ext>
            </a:extLst>
          </p:cNvPr>
          <p:cNvSpPr/>
          <p:nvPr/>
        </p:nvSpPr>
        <p:spPr>
          <a:xfrm>
            <a:off x="5486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Monitoring Project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64ABBC2-5E27-6819-FA39-EA78D0E522B8}"/>
              </a:ext>
            </a:extLst>
          </p:cNvPr>
          <p:cNvSpPr/>
          <p:nvPr/>
        </p:nvSpPr>
        <p:spPr>
          <a:xfrm>
            <a:off x="8412480" y="66019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ECAM — MaZ</a:t>
            </a:r>
            <a:endParaRPr lang="en-US" sz="1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12A412F-E864-79BE-C827-DFBDD31BDB47}"/>
              </a:ext>
            </a:extLst>
          </p:cNvPr>
          <p:cNvSpPr/>
          <p:nvPr/>
        </p:nvSpPr>
        <p:spPr>
          <a:xfrm>
            <a:off x="548640" y="822960"/>
            <a:ext cx="5806440" cy="5623560"/>
          </a:xfrm>
          <a:prstGeom prst="roundRect">
            <a:avLst>
              <a:gd name="adj" fmla="val 616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5387B58-578F-17EC-3C3F-B39EB1D4A8A3}"/>
              </a:ext>
            </a:extLst>
          </p:cNvPr>
          <p:cNvSpPr/>
          <p:nvPr/>
        </p:nvSpPr>
        <p:spPr>
          <a:xfrm>
            <a:off x="82296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0C7071D-4CDC-30D6-1426-020ED96E6F78}"/>
              </a:ext>
            </a:extLst>
          </p:cNvPr>
          <p:cNvSpPr/>
          <p:nvPr/>
        </p:nvSpPr>
        <p:spPr>
          <a:xfrm>
            <a:off x="868680" y="1417320"/>
            <a:ext cx="5394960" cy="1141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|STFT| (magnitude) frame par frame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spectral = variation entre frames (augmentations positives)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Seuillage adaptatif : médiane + k·σ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en segments (t_onset, t_offset) + fusion des pauses courtes</a:t>
            </a:r>
            <a:endParaRPr lang="en-US" sz="1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2776462-D5C9-8B27-DDA2-833DF7E6B7DB}"/>
              </a:ext>
            </a:extLst>
          </p:cNvPr>
          <p:cNvSpPr/>
          <p:nvPr/>
        </p:nvSpPr>
        <p:spPr>
          <a:xfrm>
            <a:off x="1054608" y="3840480"/>
            <a:ext cx="4634865" cy="1554480"/>
          </a:xfrm>
          <a:prstGeom prst="rect">
            <a:avLst/>
          </a:prstGeom>
          <a:solidFill>
            <a:srgbClr val="E6F4EF"/>
          </a:solidFill>
          <a:ln w="12700">
            <a:solidFill>
              <a:srgbClr val="CBE7DD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2F318E9-4BAD-7163-B20E-649FF3CB0456}"/>
              </a:ext>
            </a:extLst>
          </p:cNvPr>
          <p:cNvSpPr/>
          <p:nvPr/>
        </p:nvSpPr>
        <p:spPr>
          <a:xfrm>
            <a:off x="1237488" y="3977640"/>
            <a:ext cx="43622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clés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322061-0B88-F63A-B8B6-18981F48015B}"/>
              </a:ext>
            </a:extLst>
          </p:cNvPr>
          <p:cNvSpPr/>
          <p:nvPr/>
        </p:nvSpPr>
        <p:spPr>
          <a:xfrm>
            <a:off x="1237488" y="4297680"/>
            <a:ext cx="43622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(sensibilité) • min_duration_s • merge_gap_s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BD579AD-59A0-F2A3-16F1-4BB70B7E108C}"/>
              </a:ext>
            </a:extLst>
          </p:cNvPr>
          <p:cNvSpPr/>
          <p:nvPr/>
        </p:nvSpPr>
        <p:spPr>
          <a:xfrm>
            <a:off x="1237488" y="4572000"/>
            <a:ext cx="43622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à régler selon le bruit &amp; les espèces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665812D-83B7-BF1A-2243-39D833F5443F}"/>
              </a:ext>
            </a:extLst>
          </p:cNvPr>
          <p:cNvSpPr/>
          <p:nvPr/>
        </p:nvSpPr>
        <p:spPr>
          <a:xfrm>
            <a:off x="6629400" y="822960"/>
            <a:ext cx="5010912" cy="5623560"/>
          </a:xfrm>
          <a:prstGeom prst="roundRect">
            <a:avLst>
              <a:gd name="adj" fmla="val 7163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560DDF-5B72-D8BB-CFF8-6B68B3AB2FBE}"/>
              </a:ext>
            </a:extLst>
          </p:cNvPr>
          <p:cNvSpPr/>
          <p:nvPr/>
        </p:nvSpPr>
        <p:spPr>
          <a:xfrm>
            <a:off x="6903720" y="1005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Pseudo‑code</a:t>
            </a:r>
            <a:endParaRPr lang="en-US" sz="18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45C284F-FF67-B217-F442-E56D6DB01E6B}"/>
              </a:ext>
            </a:extLst>
          </p:cNvPr>
          <p:cNvSpPr/>
          <p:nvPr/>
        </p:nvSpPr>
        <p:spPr>
          <a:xfrm>
            <a:off x="6903720" y="1417320"/>
            <a:ext cx="4462272" cy="3977640"/>
          </a:xfrm>
          <a:prstGeom prst="roundRect">
            <a:avLst/>
          </a:prstGeom>
          <a:solidFill>
            <a:srgbClr val="0B1F1A"/>
          </a:solidFill>
          <a:ln w="12700">
            <a:solidFill>
              <a:srgbClr val="0B1F1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EA6D3E9-E54C-7F7E-60B7-D55399E36145}"/>
              </a:ext>
            </a:extLst>
          </p:cNvPr>
          <p:cNvSpPr/>
          <p:nvPr/>
        </p:nvSpPr>
        <p:spPr>
          <a:xfrm>
            <a:off x="7132320" y="1600200"/>
            <a:ext cx="400507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abs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stft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)^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median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flux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runs_to_segments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merge_close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drop_short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min_dur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B721DA6-13DF-0472-80EA-0227856E62EB}"/>
              </a:ext>
            </a:extLst>
          </p:cNvPr>
          <p:cNvSpPr/>
          <p:nvPr/>
        </p:nvSpPr>
        <p:spPr>
          <a:xfrm>
            <a:off x="7577328" y="5646420"/>
            <a:ext cx="3073527" cy="54864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8CB2679-3575-A5F4-16DC-743C68F5AE3A}"/>
              </a:ext>
            </a:extLst>
          </p:cNvPr>
          <p:cNvSpPr/>
          <p:nvPr/>
        </p:nvSpPr>
        <p:spPr>
          <a:xfrm>
            <a:off x="7724775" y="56464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segments.csv (onset/offset)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686564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1289D9-CC5D-6A5F-BCC6-E6FE32B40239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1A"/>
          </a:solidFill>
          <a:ln w="12700">
            <a:solidFill>
              <a:srgbClr val="0B1F1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B5E033-86AF-5BAE-3043-C7E13363D64A}"/>
              </a:ext>
            </a:extLst>
          </p:cNvPr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spectrogramme annoté + segments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8A44EB9-FCDC-5A34-5AA8-DC9450AFB31E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5F21915-8BA2-6124-F446-93D1880F4974}"/>
              </a:ext>
            </a:extLst>
          </p:cNvPr>
          <p:cNvSpPr/>
          <p:nvPr/>
        </p:nvSpPr>
        <p:spPr>
          <a:xfrm>
            <a:off x="5486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Monitoring Project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3AD152F-A069-6748-0CDD-7A164EDD0262}"/>
              </a:ext>
            </a:extLst>
          </p:cNvPr>
          <p:cNvSpPr/>
          <p:nvPr/>
        </p:nvSpPr>
        <p:spPr>
          <a:xfrm>
            <a:off x="8412480" y="66019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ECAM — 5MEO</a:t>
            </a:r>
            <a:endParaRPr lang="en-US" sz="1000" dirty="0"/>
          </a:p>
        </p:txBody>
      </p:sp>
      <p:pic>
        <p:nvPicPr>
          <p:cNvPr id="7" name="Image 0" descr="/mnt/data/bmp_assets/annotated_spectrogram.png">
            <a:extLst>
              <a:ext uri="{FF2B5EF4-FFF2-40B4-BE49-F238E27FC236}">
                <a16:creationId xmlns:a16="http://schemas.microsoft.com/office/drawing/2014/main" id="{218A4A1F-1502-4138-DF94-7C84676A3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59206"/>
            <a:ext cx="11091672" cy="4436669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2A591520-F554-5DEA-1F9D-1BB649DD303D}"/>
              </a:ext>
            </a:extLst>
          </p:cNvPr>
          <p:cNvSpPr/>
          <p:nvPr/>
        </p:nvSpPr>
        <p:spPr>
          <a:xfrm>
            <a:off x="548640" y="5623560"/>
            <a:ext cx="11091672" cy="822960"/>
          </a:xfrm>
          <a:prstGeom prst="roundRect">
            <a:avLst/>
          </a:prstGeom>
          <a:solidFill>
            <a:srgbClr val="E6F4EF"/>
          </a:solidFill>
          <a:ln w="12700">
            <a:solidFill>
              <a:srgbClr val="CBE7DD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A59116D-CAAE-ED49-A964-60E6D33DAC5B}"/>
              </a:ext>
            </a:extLst>
          </p:cNvPr>
          <p:cNvSpPr/>
          <p:nvPr/>
        </p:nvSpPr>
        <p:spPr>
          <a:xfrm>
            <a:off x="777240" y="578815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Bandes verticales = segments détectés (VAD). Utilisées ensuite pour extraire les features par segment.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03130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97D55-DF89-EF22-0ECA-39292493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B3C4FDD1-6377-085D-34E0-D273BDF505B6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1A"/>
          </a:solidFill>
          <a:ln w="12700">
            <a:solidFill>
              <a:srgbClr val="0B1F1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D018D796-8D93-DFB8-F380-FAF0B881CC1D}"/>
              </a:ext>
            </a:extLst>
          </p:cNvPr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 features (par segment)</a:t>
            </a:r>
            <a:endParaRPr lang="en-US" sz="18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B2205158-9F00-3136-68BB-E438FD555D7E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35C156FB-00C9-7E3A-4D51-9A5592161AEA}"/>
              </a:ext>
            </a:extLst>
          </p:cNvPr>
          <p:cNvSpPr/>
          <p:nvPr/>
        </p:nvSpPr>
        <p:spPr>
          <a:xfrm>
            <a:off x="5486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Monitoring Project</a:t>
            </a:r>
            <a:endParaRPr lang="en-US" sz="10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A2F8FB80-76BD-A283-07C9-5A9DACA0CF6E}"/>
              </a:ext>
            </a:extLst>
          </p:cNvPr>
          <p:cNvSpPr/>
          <p:nvPr/>
        </p:nvSpPr>
        <p:spPr>
          <a:xfrm>
            <a:off x="8412480" y="66019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ECAM — MaZ</a:t>
            </a:r>
            <a:endParaRPr lang="en-US" sz="10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CFD78F0E-28B1-99B4-42FC-6E524CA20EC6}"/>
              </a:ext>
            </a:extLst>
          </p:cNvPr>
          <p:cNvSpPr/>
          <p:nvPr/>
        </p:nvSpPr>
        <p:spPr>
          <a:xfrm>
            <a:off x="548640" y="822960"/>
            <a:ext cx="6035040" cy="5623560"/>
          </a:xfrm>
          <a:prstGeom prst="roundRect">
            <a:avLst>
              <a:gd name="adj" fmla="val 5149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F828C2D-7805-58D4-CBE1-CC41EC4642A4}"/>
              </a:ext>
            </a:extLst>
          </p:cNvPr>
          <p:cNvSpPr/>
          <p:nvPr/>
        </p:nvSpPr>
        <p:spPr>
          <a:xfrm>
            <a:off x="82296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calculées</a:t>
            </a:r>
            <a:endParaRPr lang="en-US" sz="18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27642392-E0A8-F7B8-90D6-28C1499E02FE}"/>
              </a:ext>
            </a:extLst>
          </p:cNvPr>
          <p:cNvSpPr/>
          <p:nvPr/>
        </p:nvSpPr>
        <p:spPr>
          <a:xfrm>
            <a:off x="822960" y="1508760"/>
            <a:ext cx="5486400" cy="79552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049BE3C1-8468-85FF-EF8D-B23C013070B2}"/>
              </a:ext>
            </a:extLst>
          </p:cNvPr>
          <p:cNvSpPr/>
          <p:nvPr/>
        </p:nvSpPr>
        <p:spPr>
          <a:xfrm>
            <a:off x="1005840" y="167335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</a:t>
            </a:r>
            <a:endParaRPr lang="en-US" sz="14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C7518C31-C90E-AB43-4429-31067AFE6F59}"/>
              </a:ext>
            </a:extLst>
          </p:cNvPr>
          <p:cNvSpPr/>
          <p:nvPr/>
        </p:nvSpPr>
        <p:spPr>
          <a:xfrm>
            <a:off x="2743200" y="165506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coefficients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stats (mean/std/min/max)</a:t>
            </a:r>
            <a:endParaRPr lang="en-US" sz="12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B2B29758-D666-924F-9CF9-12DB68C6D1FD}"/>
              </a:ext>
            </a:extLst>
          </p:cNvPr>
          <p:cNvSpPr/>
          <p:nvPr/>
        </p:nvSpPr>
        <p:spPr>
          <a:xfrm>
            <a:off x="822960" y="2377440"/>
            <a:ext cx="548640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3D55AE64-92E2-5E1D-7DEE-31EB1C6F53C9}"/>
              </a:ext>
            </a:extLst>
          </p:cNvPr>
          <p:cNvSpPr/>
          <p:nvPr/>
        </p:nvSpPr>
        <p:spPr>
          <a:xfrm>
            <a:off x="1005840" y="25420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Spectre</a:t>
            </a:r>
            <a:endParaRPr lang="en-US" sz="14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BD5A3D9C-6425-EC98-48E6-2FBE9E15D26D}"/>
              </a:ext>
            </a:extLst>
          </p:cNvPr>
          <p:cNvSpPr/>
          <p:nvPr/>
        </p:nvSpPr>
        <p:spPr>
          <a:xfrm>
            <a:off x="2743200" y="252374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• bandwidth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rolloff95 • flatness • entropie</a:t>
            </a:r>
            <a:endParaRPr lang="en-US" sz="12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D5A064A1-04CF-9468-3F7D-A767C98B6E89}"/>
              </a:ext>
            </a:extLst>
          </p:cNvPr>
          <p:cNvSpPr/>
          <p:nvPr/>
        </p:nvSpPr>
        <p:spPr>
          <a:xfrm>
            <a:off x="822960" y="3246120"/>
            <a:ext cx="5486400" cy="79552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6B298843-91BA-85A2-07C4-E28632B435E4}"/>
              </a:ext>
            </a:extLst>
          </p:cNvPr>
          <p:cNvSpPr/>
          <p:nvPr/>
        </p:nvSpPr>
        <p:spPr>
          <a:xfrm>
            <a:off x="1005840" y="341071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</a:t>
            </a:r>
            <a:endParaRPr lang="en-US" sz="14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6E83712F-5C58-E01A-600D-C02009AFFB51}"/>
              </a:ext>
            </a:extLst>
          </p:cNvPr>
          <p:cNvSpPr/>
          <p:nvPr/>
        </p:nvSpPr>
        <p:spPr>
          <a:xfrm>
            <a:off x="2743200" y="339242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 : f0_mean/std/min/max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ratio voiced</a:t>
            </a:r>
            <a:endParaRPr lang="en-US" sz="1200" dirty="0"/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E47FE8E0-C3DB-1AA0-EEE8-93AEF97F36F4}"/>
              </a:ext>
            </a:extLst>
          </p:cNvPr>
          <p:cNvSpPr/>
          <p:nvPr/>
        </p:nvSpPr>
        <p:spPr>
          <a:xfrm>
            <a:off x="822960" y="4114800"/>
            <a:ext cx="548640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64F77787-4E09-FD31-A972-2616B78A7F99}"/>
              </a:ext>
            </a:extLst>
          </p:cNvPr>
          <p:cNvSpPr/>
          <p:nvPr/>
        </p:nvSpPr>
        <p:spPr>
          <a:xfrm>
            <a:off x="1005840" y="42793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</a:t>
            </a:r>
            <a:endParaRPr lang="en-US" sz="140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2AD2DAC0-F67A-3CD4-E2AA-9A18143FE073}"/>
              </a:ext>
            </a:extLst>
          </p:cNvPr>
          <p:cNvSpPr/>
          <p:nvPr/>
        </p:nvSpPr>
        <p:spPr>
          <a:xfrm>
            <a:off x="2743200" y="426110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• segment_id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t_onset/t_offset • durée</a:t>
            </a:r>
            <a:endParaRPr lang="en-US" sz="1200" dirty="0"/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F09ACCE2-C40B-4C10-C785-6AA076057B29}"/>
              </a:ext>
            </a:extLst>
          </p:cNvPr>
          <p:cNvSpPr/>
          <p:nvPr/>
        </p:nvSpPr>
        <p:spPr>
          <a:xfrm>
            <a:off x="822960" y="5349240"/>
            <a:ext cx="5486400" cy="320040"/>
          </a:xfrm>
          <a:prstGeom prst="rect">
            <a:avLst/>
          </a:prstGeom>
          <a:solidFill>
            <a:srgbClr val="E6F4EF"/>
          </a:solidFill>
          <a:ln w="12700">
            <a:solidFill>
              <a:srgbClr val="CBE7DD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EE7201B1-9324-A7C1-3AB4-EF4E05523501}"/>
              </a:ext>
            </a:extLst>
          </p:cNvPr>
          <p:cNvSpPr/>
          <p:nvPr/>
        </p:nvSpPr>
        <p:spPr>
          <a:xfrm>
            <a:off x="1051560" y="5349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features.csv</a:t>
            </a:r>
            <a:endParaRPr lang="en-US" sz="1400" dirty="0"/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DFF52EDB-594D-2EE9-DD74-F2F648868935}"/>
              </a:ext>
            </a:extLst>
          </p:cNvPr>
          <p:cNvSpPr/>
          <p:nvPr/>
        </p:nvSpPr>
        <p:spPr>
          <a:xfrm>
            <a:off x="6766560" y="822960"/>
            <a:ext cx="4873752" cy="5623560"/>
          </a:xfrm>
          <a:prstGeom prst="roundRect">
            <a:avLst>
              <a:gd name="adj" fmla="val 5136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D373DB15-2D1E-9FC5-D3DB-CF19285ACA70}"/>
              </a:ext>
            </a:extLst>
          </p:cNvPr>
          <p:cNvSpPr/>
          <p:nvPr/>
        </p:nvSpPr>
        <p:spPr>
          <a:xfrm>
            <a:off x="7040880" y="1005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r>
              <a:rPr lang="en-US" sz="18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segments (console)</a:t>
            </a:r>
            <a:endParaRPr lang="en-US" sz="1800" dirty="0"/>
          </a:p>
        </p:txBody>
      </p:sp>
      <p:pic>
        <p:nvPicPr>
          <p:cNvPr id="34" name="Image 0" descr="/mnt/data/bmp_assets/extract_features_output.png">
            <a:extLst>
              <a:ext uri="{FF2B5EF4-FFF2-40B4-BE49-F238E27FC236}">
                <a16:creationId xmlns:a16="http://schemas.microsoft.com/office/drawing/2014/main" id="{0775FAD4-822A-797D-577E-FABEFA203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016" y="1508760"/>
            <a:ext cx="4434840" cy="2243610"/>
          </a:xfrm>
          <a:prstGeom prst="roundRect">
            <a:avLst>
              <a:gd name="adj" fmla="val 9450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6589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492671-29AE-090F-8929-393902C95EF2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1A"/>
          </a:solidFill>
          <a:ln w="12700">
            <a:solidFill>
              <a:srgbClr val="0B1F1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B7660D-298D-C6F6-D4EC-4E181179DE75}"/>
              </a:ext>
            </a:extLst>
          </p:cNvPr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par segments (Random Forest)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94BA92E-1530-EF6E-E6E4-F5F967D00253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AF73FC-48A4-9546-A030-A9319DB2E51C}"/>
              </a:ext>
            </a:extLst>
          </p:cNvPr>
          <p:cNvSpPr/>
          <p:nvPr/>
        </p:nvSpPr>
        <p:spPr>
          <a:xfrm>
            <a:off x="5486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Monitoring Project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F05669-C376-EF40-267E-BAE5C3F775ED}"/>
              </a:ext>
            </a:extLst>
          </p:cNvPr>
          <p:cNvSpPr/>
          <p:nvPr/>
        </p:nvSpPr>
        <p:spPr>
          <a:xfrm>
            <a:off x="8412480" y="66019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ECAM — 5MEO</a:t>
            </a:r>
            <a:endParaRPr lang="en-US" sz="1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4075B6B-B259-69E7-8A87-A7A8CB8DBD0C}"/>
              </a:ext>
            </a:extLst>
          </p:cNvPr>
          <p:cNvSpPr/>
          <p:nvPr/>
        </p:nvSpPr>
        <p:spPr>
          <a:xfrm>
            <a:off x="548640" y="822960"/>
            <a:ext cx="6446520" cy="5623560"/>
          </a:xfrm>
          <a:prstGeom prst="roundRect">
            <a:avLst>
              <a:gd name="adj" fmla="val 4303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0500F94-314C-7E01-1A75-92D3851E7FAD}"/>
              </a:ext>
            </a:extLst>
          </p:cNvPr>
          <p:cNvSpPr/>
          <p:nvPr/>
        </p:nvSpPr>
        <p:spPr>
          <a:xfrm>
            <a:off x="822960" y="1005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215B8A-4FFB-D885-C286-AF8EA52BEDEB}"/>
              </a:ext>
            </a:extLst>
          </p:cNvPr>
          <p:cNvSpPr/>
          <p:nvPr/>
        </p:nvSpPr>
        <p:spPr>
          <a:xfrm>
            <a:off x="868680" y="1417320"/>
            <a:ext cx="6035040" cy="1141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: StandardScaler → RandomForestClassifier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sur les segments (features.csv)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: espèce = nom du fichier (Path(stem))</a:t>
            </a:r>
            <a:endParaRPr lang="en-US" sz="16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300, random_state = 42</a:t>
            </a:r>
            <a:endParaRPr lang="en-US" sz="1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850A17E-8AE9-07FA-04C5-B2CAB1F6E623}"/>
              </a:ext>
            </a:extLst>
          </p:cNvPr>
          <p:cNvSpPr/>
          <p:nvPr/>
        </p:nvSpPr>
        <p:spPr>
          <a:xfrm>
            <a:off x="731520" y="3086100"/>
            <a:ext cx="6035040" cy="2331720"/>
          </a:xfrm>
          <a:prstGeom prst="roundRect">
            <a:avLst>
              <a:gd name="adj" fmla="val 11765"/>
            </a:avLst>
          </a:prstGeom>
          <a:solidFill>
            <a:srgbClr val="0B1F1A"/>
          </a:solidFill>
          <a:ln w="12700">
            <a:solidFill>
              <a:srgbClr val="0B1F1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93FA4DC-162E-B946-C932-749252408C3A}"/>
              </a:ext>
            </a:extLst>
          </p:cNvPr>
          <p:cNvSpPr/>
          <p:nvPr/>
        </p:nvSpPr>
        <p:spPr>
          <a:xfrm>
            <a:off x="960120" y="3268980"/>
            <a:ext cx="5577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Pipeline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"scaler"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StandardScaler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"rf"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RandomForestClassifier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n_estimators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random_state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n_jobs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C0F8014-D7BB-FBE3-8358-087C3763A1AC}"/>
              </a:ext>
            </a:extLst>
          </p:cNvPr>
          <p:cNvSpPr/>
          <p:nvPr/>
        </p:nvSpPr>
        <p:spPr>
          <a:xfrm>
            <a:off x="7178040" y="822960"/>
            <a:ext cx="4462272" cy="5623560"/>
          </a:xfrm>
          <a:prstGeom prst="roundRect">
            <a:avLst>
              <a:gd name="adj" fmla="val 5994"/>
            </a:avLst>
          </a:prstGeom>
          <a:solidFill>
            <a:srgbClr val="E6F4EF"/>
          </a:solidFill>
          <a:ln w="12700">
            <a:solidFill>
              <a:srgbClr val="CBE7D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BE945DB-6610-DB09-1406-3F227ABFFBDD}"/>
              </a:ext>
            </a:extLst>
          </p:cNvPr>
          <p:cNvSpPr/>
          <p:nvPr/>
        </p:nvSpPr>
        <p:spPr>
          <a:xfrm>
            <a:off x="745236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(test)</a:t>
            </a:r>
            <a:endParaRPr lang="en-US" sz="1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B00CD09-F9A0-D8B6-3D9A-23EE9C986F50}"/>
              </a:ext>
            </a:extLst>
          </p:cNvPr>
          <p:cNvSpPr/>
          <p:nvPr/>
        </p:nvSpPr>
        <p:spPr>
          <a:xfrm>
            <a:off x="7452360" y="1417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≈ 0.93</a:t>
            </a:r>
            <a:endParaRPr lang="en-US" sz="2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E3DECA2-A7F2-BB74-E889-657C518AE781}"/>
              </a:ext>
            </a:extLst>
          </p:cNvPr>
          <p:cNvSpPr/>
          <p:nvPr/>
        </p:nvSpPr>
        <p:spPr>
          <a:xfrm>
            <a:off x="7452360" y="1874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≈ 0.91</a:t>
            </a:r>
            <a:endParaRPr lang="en-US" sz="1200" dirty="0"/>
          </a:p>
        </p:txBody>
      </p:sp>
      <p:graphicFrame>
        <p:nvGraphicFramePr>
          <p:cNvPr id="16" name="Chart 0">
            <a:extLst>
              <a:ext uri="{FF2B5EF4-FFF2-40B4-BE49-F238E27FC236}">
                <a16:creationId xmlns:a16="http://schemas.microsoft.com/office/drawing/2014/main" id="{D848890A-8E77-14E2-F7F7-D01E3FEBD0EB}"/>
              </a:ext>
            </a:extLst>
          </p:cNvPr>
          <p:cNvGraphicFramePr/>
          <p:nvPr/>
        </p:nvGraphicFramePr>
        <p:xfrm>
          <a:off x="7498080" y="2331720"/>
          <a:ext cx="39776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Shape 14">
            <a:extLst>
              <a:ext uri="{FF2B5EF4-FFF2-40B4-BE49-F238E27FC236}">
                <a16:creationId xmlns:a16="http://schemas.microsoft.com/office/drawing/2014/main" id="{1AF99AC4-7581-1389-0288-67B750907FB1}"/>
              </a:ext>
            </a:extLst>
          </p:cNvPr>
          <p:cNvSpPr/>
          <p:nvPr/>
        </p:nvSpPr>
        <p:spPr>
          <a:xfrm>
            <a:off x="7452360" y="50749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E7DD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5A3CF42-A2DF-3F74-C88E-577E32DFC92E}"/>
              </a:ext>
            </a:extLst>
          </p:cNvPr>
          <p:cNvSpPr/>
          <p:nvPr/>
        </p:nvSpPr>
        <p:spPr>
          <a:xfrm>
            <a:off x="7635240" y="51937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4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6866E05-9213-BB27-1AA8-C4D119AA6729}"/>
              </a:ext>
            </a:extLst>
          </p:cNvPr>
          <p:cNvSpPr/>
          <p:nvPr/>
        </p:nvSpPr>
        <p:spPr>
          <a:xfrm>
            <a:off x="7635240" y="546811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Peu de données → gros </a:t>
            </a:r>
            <a:r>
              <a:rPr lang="en-US" sz="1200" dirty="0" err="1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r>
              <a:rPr lang="en-US" sz="12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sur‑apprentissage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Quelques confusions sur classes rares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82906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oiseau, oscines, plein air, faune&#10;&#10;Le contenu généré par l’IA peut être incorrect.">
            <a:extLst>
              <a:ext uri="{FF2B5EF4-FFF2-40B4-BE49-F238E27FC236}">
                <a16:creationId xmlns:a16="http://schemas.microsoft.com/office/drawing/2014/main" id="{117DA899-9631-DD09-5EA2-5B42AFEFA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5" b="774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B1E91834-A671-BFDA-9BA7-9B5EC70D28A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  <a:ln w="12700">
            <a:solidFill>
              <a:srgbClr val="0B1F1A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07F4D0F-3329-2320-A3F4-9592D25DAEDA}"/>
              </a:ext>
            </a:extLst>
          </p:cNvPr>
          <p:cNvSpPr/>
          <p:nvPr/>
        </p:nvSpPr>
        <p:spPr>
          <a:xfrm>
            <a:off x="822960" y="3794760"/>
            <a:ext cx="1078992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D1F14C-0C32-3254-998D-9629284A87CA}"/>
              </a:ext>
            </a:extLst>
          </p:cNvPr>
          <p:cNvSpPr/>
          <p:nvPr/>
        </p:nvSpPr>
        <p:spPr>
          <a:xfrm>
            <a:off x="841248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: DiegoRadigues/Biodiversity-Monitoring-Project</a:t>
            </a:r>
            <a:endParaRPr lang="en-US" sz="16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8CA69E5F-85CB-395F-3D45-88C1D08B2BD3}"/>
              </a:ext>
            </a:extLst>
          </p:cNvPr>
          <p:cNvSpPr/>
          <p:nvPr/>
        </p:nvSpPr>
        <p:spPr>
          <a:xfrm>
            <a:off x="731520" y="21488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3798819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d566ac9-3f6c-4632-be0a-dd62009648f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091D4F0F9CA42907B4812E4A99EE9" ma:contentTypeVersion="18" ma:contentTypeDescription="Crée un document." ma:contentTypeScope="" ma:versionID="9d3fabece2d0574d4f08016326a4e8f7">
  <xsd:schema xmlns:xsd="http://www.w3.org/2001/XMLSchema" xmlns:xs="http://www.w3.org/2001/XMLSchema" xmlns:p="http://schemas.microsoft.com/office/2006/metadata/properties" xmlns:ns3="8742d449-c455-4241-8099-f7a903a2b5e2" xmlns:ns4="8d566ac9-3f6c-4632-be0a-dd62009648fa" targetNamespace="http://schemas.microsoft.com/office/2006/metadata/properties" ma:root="true" ma:fieldsID="fe9c1a0b146a938881f6f490939c9414" ns3:_="" ns4:_="">
    <xsd:import namespace="8742d449-c455-4241-8099-f7a903a2b5e2"/>
    <xsd:import namespace="8d566ac9-3f6c-4632-be0a-dd62009648f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42d449-c455-4241-8099-f7a903a2b5e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566ac9-3f6c-4632-be0a-dd62009648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D0D06E-72FD-41B8-9673-AD8D7F1D5564}">
  <ds:schemaRefs>
    <ds:schemaRef ds:uri="http://schemas.microsoft.com/office/2006/documentManagement/types"/>
    <ds:schemaRef ds:uri="http://purl.org/dc/terms/"/>
    <ds:schemaRef ds:uri="http://purl.org/dc/elements/1.1/"/>
    <ds:schemaRef ds:uri="8742d449-c455-4241-8099-f7a903a2b5e2"/>
    <ds:schemaRef ds:uri="8d566ac9-3f6c-4632-be0a-dd62009648fa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2A37780-44F2-4D9F-9D90-E4F86B5425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2C1202-9AB8-4F68-BFC6-A38AE8251B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42d449-c455-4241-8099-f7a903a2b5e2"/>
    <ds:schemaRef ds:uri="8d566ac9-3f6c-4632-be0a-dd62009648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949</Words>
  <Application>Microsoft Office PowerPoint</Application>
  <PresentationFormat>Grand écran</PresentationFormat>
  <Paragraphs>122</Paragraphs>
  <Slides>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Consolas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Diégo</dc:creator>
  <cp:lastModifiedBy>Diégo de Radiguès Saint Guédal de Chennevière</cp:lastModifiedBy>
  <cp:revision>2</cp:revision>
  <dcterms:created xsi:type="dcterms:W3CDTF">2025-12-14T20:16:53Z</dcterms:created>
  <dcterms:modified xsi:type="dcterms:W3CDTF">2025-12-14T21:39:48Z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0x010100D20091D4F0F9CA42907B4812E4A99EE9</vt:lpwstr>
  </property>
</Properties>
</file>